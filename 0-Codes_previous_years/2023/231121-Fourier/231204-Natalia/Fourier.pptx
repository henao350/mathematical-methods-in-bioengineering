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9144000" cy="6858000" type="screen4x3"/>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1474" y="-91"/>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1 Título"/>
          <p:cNvSpPr>
            <a:spLocks noGrp="1"/>
          </p:cNvSpPr>
          <p:nvPr>
            <p:ph type="ctrTitle"/>
          </p:nvPr>
        </p:nvSpPr>
        <p:spPr>
          <a:xfrm>
            <a:off x="685800" y="2130425"/>
            <a:ext cx="7772400" cy="1470025"/>
          </a:xfrm>
        </p:spPr>
        <p:txBody>
          <a:bodyPr/>
          <a:lstStyle/>
          <a:p>
            <a:r>
              <a:rPr lang="es-ES" smtClean="0"/>
              <a:t>Haga clic para modificar el estilo de título del patrón</a:t>
            </a:r>
            <a:endParaRPr lang="es-CL"/>
          </a:p>
        </p:txBody>
      </p:sp>
      <p:sp>
        <p:nvSpPr>
          <p:cNvPr id="3" name="2 Subtítulo"/>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s-CL"/>
          </a:p>
        </p:txBody>
      </p:sp>
      <p:sp>
        <p:nvSpPr>
          <p:cNvPr id="4" name="3 Marcador de fecha"/>
          <p:cNvSpPr>
            <a:spLocks noGrp="1"/>
          </p:cNvSpPr>
          <p:nvPr>
            <p:ph type="dt" sz="half" idx="10"/>
          </p:nvPr>
        </p:nvSpPr>
        <p:spPr/>
        <p:txBody>
          <a:bodyPr/>
          <a:lstStyle/>
          <a:p>
            <a:fld id="{C8B15358-847B-44FF-9B07-AAEAFA747276}" type="datetimeFigureOut">
              <a:rPr lang="es-CL" smtClean="0"/>
              <a:t>20-11-2023</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7A56A6E0-D4AB-4F1C-908F-90B4EB277C52}" type="slidenum">
              <a:rPr lang="es-CL" smtClean="0"/>
              <a:t>‹Nº›</a:t>
            </a:fld>
            <a:endParaRPr lang="es-CL"/>
          </a:p>
        </p:txBody>
      </p:sp>
    </p:spTree>
    <p:extLst>
      <p:ext uri="{BB962C8B-B14F-4D97-AF65-F5344CB8AC3E}">
        <p14:creationId xmlns:p14="http://schemas.microsoft.com/office/powerpoint/2010/main" val="2112977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C8B15358-847B-44FF-9B07-AAEAFA747276}" type="datetimeFigureOut">
              <a:rPr lang="es-CL" smtClean="0"/>
              <a:t>20-11-2023</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7A56A6E0-D4AB-4F1C-908F-90B4EB277C52}" type="slidenum">
              <a:rPr lang="es-CL" smtClean="0"/>
              <a:t>‹Nº›</a:t>
            </a:fld>
            <a:endParaRPr lang="es-CL"/>
          </a:p>
        </p:txBody>
      </p:sp>
    </p:spTree>
    <p:extLst>
      <p:ext uri="{BB962C8B-B14F-4D97-AF65-F5344CB8AC3E}">
        <p14:creationId xmlns:p14="http://schemas.microsoft.com/office/powerpoint/2010/main" val="1785586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1 Título"/>
          <p:cNvSpPr>
            <a:spLocks noGrp="1"/>
          </p:cNvSpPr>
          <p:nvPr>
            <p:ph type="title"/>
          </p:nvPr>
        </p:nvSpPr>
        <p:spPr>
          <a:xfrm>
            <a:off x="722313" y="4406900"/>
            <a:ext cx="7772400" cy="1362075"/>
          </a:xfrm>
        </p:spPr>
        <p:txBody>
          <a:bodyPr anchor="t"/>
          <a:lstStyle>
            <a:lvl1pPr algn="l">
              <a:defRPr sz="4000" b="1" cap="all"/>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3 Marcador de fecha"/>
          <p:cNvSpPr>
            <a:spLocks noGrp="1"/>
          </p:cNvSpPr>
          <p:nvPr>
            <p:ph type="dt" sz="half" idx="10"/>
          </p:nvPr>
        </p:nvSpPr>
        <p:spPr/>
        <p:txBody>
          <a:bodyPr/>
          <a:lstStyle/>
          <a:p>
            <a:fld id="{C8B15358-847B-44FF-9B07-AAEAFA747276}" type="datetimeFigureOut">
              <a:rPr lang="es-CL" smtClean="0"/>
              <a:t>20-11-2023</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7A56A6E0-D4AB-4F1C-908F-90B4EB277C52}" type="slidenum">
              <a:rPr lang="es-CL" smtClean="0"/>
              <a:t>‹Nº›</a:t>
            </a:fld>
            <a:endParaRPr lang="es-CL"/>
          </a:p>
        </p:txBody>
      </p:sp>
    </p:spTree>
    <p:extLst>
      <p:ext uri="{BB962C8B-B14F-4D97-AF65-F5344CB8AC3E}">
        <p14:creationId xmlns:p14="http://schemas.microsoft.com/office/powerpoint/2010/main" val="898958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contenido"/>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contenido"/>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fecha"/>
          <p:cNvSpPr>
            <a:spLocks noGrp="1"/>
          </p:cNvSpPr>
          <p:nvPr>
            <p:ph type="dt" sz="half" idx="10"/>
          </p:nvPr>
        </p:nvSpPr>
        <p:spPr/>
        <p:txBody>
          <a:bodyPr/>
          <a:lstStyle/>
          <a:p>
            <a:fld id="{C8B15358-847B-44FF-9B07-AAEAFA747276}" type="datetimeFigureOut">
              <a:rPr lang="es-CL" smtClean="0"/>
              <a:t>20-11-2023</a:t>
            </a:fld>
            <a:endParaRPr lang="es-CL"/>
          </a:p>
        </p:txBody>
      </p:sp>
      <p:sp>
        <p:nvSpPr>
          <p:cNvPr id="6" name="5 Marcador de pie de página"/>
          <p:cNvSpPr>
            <a:spLocks noGrp="1"/>
          </p:cNvSpPr>
          <p:nvPr>
            <p:ph type="ftr" sz="quarter" idx="11"/>
          </p:nvPr>
        </p:nvSpPr>
        <p:spPr/>
        <p:txBody>
          <a:bodyPr/>
          <a:lstStyle/>
          <a:p>
            <a:endParaRPr lang="es-CL"/>
          </a:p>
        </p:txBody>
      </p:sp>
      <p:sp>
        <p:nvSpPr>
          <p:cNvPr id="7" name="6 Marcador de número de diapositiva"/>
          <p:cNvSpPr>
            <a:spLocks noGrp="1"/>
          </p:cNvSpPr>
          <p:nvPr>
            <p:ph type="sldNum" sz="quarter" idx="12"/>
          </p:nvPr>
        </p:nvSpPr>
        <p:spPr/>
        <p:txBody>
          <a:bodyPr/>
          <a:lstStyle/>
          <a:p>
            <a:fld id="{7A56A6E0-D4AB-4F1C-908F-90B4EB277C52}" type="slidenum">
              <a:rPr lang="es-CL" smtClean="0"/>
              <a:t>‹Nº›</a:t>
            </a:fld>
            <a:endParaRPr lang="es-CL"/>
          </a:p>
        </p:txBody>
      </p:sp>
    </p:spTree>
    <p:extLst>
      <p:ext uri="{BB962C8B-B14F-4D97-AF65-F5344CB8AC3E}">
        <p14:creationId xmlns:p14="http://schemas.microsoft.com/office/powerpoint/2010/main" val="3774949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lvl1pPr>
              <a:defRPr/>
            </a:lvl1p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3 Marcador de contenido"/>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5" name="4 Marcador de texto"/>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5 Marcador de contenido"/>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7" name="6 Marcador de fecha"/>
          <p:cNvSpPr>
            <a:spLocks noGrp="1"/>
          </p:cNvSpPr>
          <p:nvPr>
            <p:ph type="dt" sz="half" idx="10"/>
          </p:nvPr>
        </p:nvSpPr>
        <p:spPr/>
        <p:txBody>
          <a:bodyPr/>
          <a:lstStyle/>
          <a:p>
            <a:fld id="{C8B15358-847B-44FF-9B07-AAEAFA747276}" type="datetimeFigureOut">
              <a:rPr lang="es-CL" smtClean="0"/>
              <a:t>20-11-2023</a:t>
            </a:fld>
            <a:endParaRPr lang="es-CL"/>
          </a:p>
        </p:txBody>
      </p:sp>
      <p:sp>
        <p:nvSpPr>
          <p:cNvPr id="8" name="7 Marcador de pie de página"/>
          <p:cNvSpPr>
            <a:spLocks noGrp="1"/>
          </p:cNvSpPr>
          <p:nvPr>
            <p:ph type="ftr" sz="quarter" idx="11"/>
          </p:nvPr>
        </p:nvSpPr>
        <p:spPr/>
        <p:txBody>
          <a:bodyPr/>
          <a:lstStyle/>
          <a:p>
            <a:endParaRPr lang="es-CL"/>
          </a:p>
        </p:txBody>
      </p:sp>
      <p:sp>
        <p:nvSpPr>
          <p:cNvPr id="9" name="8 Marcador de número de diapositiva"/>
          <p:cNvSpPr>
            <a:spLocks noGrp="1"/>
          </p:cNvSpPr>
          <p:nvPr>
            <p:ph type="sldNum" sz="quarter" idx="12"/>
          </p:nvPr>
        </p:nvSpPr>
        <p:spPr/>
        <p:txBody>
          <a:bodyPr/>
          <a:lstStyle/>
          <a:p>
            <a:fld id="{7A56A6E0-D4AB-4F1C-908F-90B4EB277C52}" type="slidenum">
              <a:rPr lang="es-CL" smtClean="0"/>
              <a:t>‹Nº›</a:t>
            </a:fld>
            <a:endParaRPr lang="es-CL"/>
          </a:p>
        </p:txBody>
      </p:sp>
    </p:spTree>
    <p:extLst>
      <p:ext uri="{BB962C8B-B14F-4D97-AF65-F5344CB8AC3E}">
        <p14:creationId xmlns:p14="http://schemas.microsoft.com/office/powerpoint/2010/main" val="12734222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fecha"/>
          <p:cNvSpPr>
            <a:spLocks noGrp="1"/>
          </p:cNvSpPr>
          <p:nvPr>
            <p:ph type="dt" sz="half" idx="10"/>
          </p:nvPr>
        </p:nvSpPr>
        <p:spPr/>
        <p:txBody>
          <a:bodyPr/>
          <a:lstStyle/>
          <a:p>
            <a:fld id="{C8B15358-847B-44FF-9B07-AAEAFA747276}" type="datetimeFigureOut">
              <a:rPr lang="es-CL" smtClean="0"/>
              <a:t>20-11-2023</a:t>
            </a:fld>
            <a:endParaRPr lang="es-CL"/>
          </a:p>
        </p:txBody>
      </p:sp>
      <p:sp>
        <p:nvSpPr>
          <p:cNvPr id="4" name="3 Marcador de pie de página"/>
          <p:cNvSpPr>
            <a:spLocks noGrp="1"/>
          </p:cNvSpPr>
          <p:nvPr>
            <p:ph type="ftr" sz="quarter" idx="11"/>
          </p:nvPr>
        </p:nvSpPr>
        <p:spPr/>
        <p:txBody>
          <a:bodyPr/>
          <a:lstStyle/>
          <a:p>
            <a:endParaRPr lang="es-CL"/>
          </a:p>
        </p:txBody>
      </p:sp>
      <p:sp>
        <p:nvSpPr>
          <p:cNvPr id="5" name="4 Marcador de número de diapositiva"/>
          <p:cNvSpPr>
            <a:spLocks noGrp="1"/>
          </p:cNvSpPr>
          <p:nvPr>
            <p:ph type="sldNum" sz="quarter" idx="12"/>
          </p:nvPr>
        </p:nvSpPr>
        <p:spPr/>
        <p:txBody>
          <a:bodyPr/>
          <a:lstStyle/>
          <a:p>
            <a:fld id="{7A56A6E0-D4AB-4F1C-908F-90B4EB277C52}" type="slidenum">
              <a:rPr lang="es-CL" smtClean="0"/>
              <a:t>‹Nº›</a:t>
            </a:fld>
            <a:endParaRPr lang="es-CL"/>
          </a:p>
        </p:txBody>
      </p:sp>
    </p:spTree>
    <p:extLst>
      <p:ext uri="{BB962C8B-B14F-4D97-AF65-F5344CB8AC3E}">
        <p14:creationId xmlns:p14="http://schemas.microsoft.com/office/powerpoint/2010/main" val="2869685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1 Marcador de fecha"/>
          <p:cNvSpPr>
            <a:spLocks noGrp="1"/>
          </p:cNvSpPr>
          <p:nvPr>
            <p:ph type="dt" sz="half" idx="10"/>
          </p:nvPr>
        </p:nvSpPr>
        <p:spPr/>
        <p:txBody>
          <a:bodyPr/>
          <a:lstStyle/>
          <a:p>
            <a:fld id="{C8B15358-847B-44FF-9B07-AAEAFA747276}" type="datetimeFigureOut">
              <a:rPr lang="es-CL" smtClean="0"/>
              <a:t>20-11-2023</a:t>
            </a:fld>
            <a:endParaRPr lang="es-CL"/>
          </a:p>
        </p:txBody>
      </p:sp>
      <p:sp>
        <p:nvSpPr>
          <p:cNvPr id="3" name="2 Marcador de pie de página"/>
          <p:cNvSpPr>
            <a:spLocks noGrp="1"/>
          </p:cNvSpPr>
          <p:nvPr>
            <p:ph type="ftr" sz="quarter" idx="11"/>
          </p:nvPr>
        </p:nvSpPr>
        <p:spPr/>
        <p:txBody>
          <a:bodyPr/>
          <a:lstStyle/>
          <a:p>
            <a:endParaRPr lang="es-CL"/>
          </a:p>
        </p:txBody>
      </p:sp>
      <p:sp>
        <p:nvSpPr>
          <p:cNvPr id="4" name="3 Marcador de número de diapositiva"/>
          <p:cNvSpPr>
            <a:spLocks noGrp="1"/>
          </p:cNvSpPr>
          <p:nvPr>
            <p:ph type="sldNum" sz="quarter" idx="12"/>
          </p:nvPr>
        </p:nvSpPr>
        <p:spPr/>
        <p:txBody>
          <a:bodyPr/>
          <a:lstStyle/>
          <a:p>
            <a:fld id="{7A56A6E0-D4AB-4F1C-908F-90B4EB277C52}" type="slidenum">
              <a:rPr lang="es-CL" smtClean="0"/>
              <a:t>‹Nº›</a:t>
            </a:fld>
            <a:endParaRPr lang="es-CL"/>
          </a:p>
        </p:txBody>
      </p:sp>
    </p:spTree>
    <p:extLst>
      <p:ext uri="{BB962C8B-B14F-4D97-AF65-F5344CB8AC3E}">
        <p14:creationId xmlns:p14="http://schemas.microsoft.com/office/powerpoint/2010/main" val="37158686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457200" y="273050"/>
            <a:ext cx="3008313" cy="1162050"/>
          </a:xfrm>
        </p:spPr>
        <p:txBody>
          <a:bodyPr anchor="b"/>
          <a:lstStyle>
            <a:lvl1pPr algn="l">
              <a:defRPr sz="2000" b="1"/>
            </a:lvl1pPr>
          </a:lstStyle>
          <a:p>
            <a:r>
              <a:rPr lang="es-ES" smtClean="0"/>
              <a:t>Haga clic para modificar el estilo de título del patrón</a:t>
            </a:r>
            <a:endParaRPr lang="es-CL"/>
          </a:p>
        </p:txBody>
      </p:sp>
      <p:sp>
        <p:nvSpPr>
          <p:cNvPr id="3" name="2 Marcador de contenido"/>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texto"/>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C8B15358-847B-44FF-9B07-AAEAFA747276}" type="datetimeFigureOut">
              <a:rPr lang="es-CL" smtClean="0"/>
              <a:t>20-11-2023</a:t>
            </a:fld>
            <a:endParaRPr lang="es-CL"/>
          </a:p>
        </p:txBody>
      </p:sp>
      <p:sp>
        <p:nvSpPr>
          <p:cNvPr id="6" name="5 Marcador de pie de página"/>
          <p:cNvSpPr>
            <a:spLocks noGrp="1"/>
          </p:cNvSpPr>
          <p:nvPr>
            <p:ph type="ftr" sz="quarter" idx="11"/>
          </p:nvPr>
        </p:nvSpPr>
        <p:spPr/>
        <p:txBody>
          <a:bodyPr/>
          <a:lstStyle/>
          <a:p>
            <a:endParaRPr lang="es-CL"/>
          </a:p>
        </p:txBody>
      </p:sp>
      <p:sp>
        <p:nvSpPr>
          <p:cNvPr id="7" name="6 Marcador de número de diapositiva"/>
          <p:cNvSpPr>
            <a:spLocks noGrp="1"/>
          </p:cNvSpPr>
          <p:nvPr>
            <p:ph type="sldNum" sz="quarter" idx="12"/>
          </p:nvPr>
        </p:nvSpPr>
        <p:spPr/>
        <p:txBody>
          <a:bodyPr/>
          <a:lstStyle/>
          <a:p>
            <a:fld id="{7A56A6E0-D4AB-4F1C-908F-90B4EB277C52}" type="slidenum">
              <a:rPr lang="es-CL" smtClean="0"/>
              <a:t>‹Nº›</a:t>
            </a:fld>
            <a:endParaRPr lang="es-CL"/>
          </a:p>
        </p:txBody>
      </p:sp>
    </p:spTree>
    <p:extLst>
      <p:ext uri="{BB962C8B-B14F-4D97-AF65-F5344CB8AC3E}">
        <p14:creationId xmlns:p14="http://schemas.microsoft.com/office/powerpoint/2010/main" val="2915876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1792288" y="4800600"/>
            <a:ext cx="5486400" cy="566738"/>
          </a:xfrm>
        </p:spPr>
        <p:txBody>
          <a:bodyPr anchor="b"/>
          <a:lstStyle>
            <a:lvl1pPr algn="l">
              <a:defRPr sz="2000" b="1"/>
            </a:lvl1pPr>
          </a:lstStyle>
          <a:p>
            <a:r>
              <a:rPr lang="es-ES" smtClean="0"/>
              <a:t>Haga clic para modificar el estilo de título del patrón</a:t>
            </a:r>
            <a:endParaRPr lang="es-CL"/>
          </a:p>
        </p:txBody>
      </p:sp>
      <p:sp>
        <p:nvSpPr>
          <p:cNvPr id="3" name="2 Marcador de posición de imagen"/>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3 Marcador de texto"/>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4 Marcador de fecha"/>
          <p:cNvSpPr>
            <a:spLocks noGrp="1"/>
          </p:cNvSpPr>
          <p:nvPr>
            <p:ph type="dt" sz="half" idx="10"/>
          </p:nvPr>
        </p:nvSpPr>
        <p:spPr/>
        <p:txBody>
          <a:bodyPr/>
          <a:lstStyle/>
          <a:p>
            <a:fld id="{C8B15358-847B-44FF-9B07-AAEAFA747276}" type="datetimeFigureOut">
              <a:rPr lang="es-CL" smtClean="0"/>
              <a:t>20-11-2023</a:t>
            </a:fld>
            <a:endParaRPr lang="es-CL"/>
          </a:p>
        </p:txBody>
      </p:sp>
      <p:sp>
        <p:nvSpPr>
          <p:cNvPr id="6" name="5 Marcador de pie de página"/>
          <p:cNvSpPr>
            <a:spLocks noGrp="1"/>
          </p:cNvSpPr>
          <p:nvPr>
            <p:ph type="ftr" sz="quarter" idx="11"/>
          </p:nvPr>
        </p:nvSpPr>
        <p:spPr/>
        <p:txBody>
          <a:bodyPr/>
          <a:lstStyle/>
          <a:p>
            <a:endParaRPr lang="es-CL"/>
          </a:p>
        </p:txBody>
      </p:sp>
      <p:sp>
        <p:nvSpPr>
          <p:cNvPr id="7" name="6 Marcador de número de diapositiva"/>
          <p:cNvSpPr>
            <a:spLocks noGrp="1"/>
          </p:cNvSpPr>
          <p:nvPr>
            <p:ph type="sldNum" sz="quarter" idx="12"/>
          </p:nvPr>
        </p:nvSpPr>
        <p:spPr/>
        <p:txBody>
          <a:bodyPr/>
          <a:lstStyle/>
          <a:p>
            <a:fld id="{7A56A6E0-D4AB-4F1C-908F-90B4EB277C52}" type="slidenum">
              <a:rPr lang="es-CL" smtClean="0"/>
              <a:t>‹Nº›</a:t>
            </a:fld>
            <a:endParaRPr lang="es-CL"/>
          </a:p>
        </p:txBody>
      </p:sp>
    </p:spTree>
    <p:extLst>
      <p:ext uri="{BB962C8B-B14F-4D97-AF65-F5344CB8AC3E}">
        <p14:creationId xmlns:p14="http://schemas.microsoft.com/office/powerpoint/2010/main" val="36800373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C8B15358-847B-44FF-9B07-AAEAFA747276}" type="datetimeFigureOut">
              <a:rPr lang="es-CL" smtClean="0"/>
              <a:t>20-11-2023</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7A56A6E0-D4AB-4F1C-908F-90B4EB277C52}" type="slidenum">
              <a:rPr lang="es-CL" smtClean="0"/>
              <a:t>‹Nº›</a:t>
            </a:fld>
            <a:endParaRPr lang="es-CL"/>
          </a:p>
        </p:txBody>
      </p:sp>
    </p:spTree>
    <p:extLst>
      <p:ext uri="{BB962C8B-B14F-4D97-AF65-F5344CB8AC3E}">
        <p14:creationId xmlns:p14="http://schemas.microsoft.com/office/powerpoint/2010/main" val="3572424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274638"/>
            <a:ext cx="2057400" cy="5851525"/>
          </a:xfrm>
        </p:spPr>
        <p:txBody>
          <a:bodyPr vert="eaVert"/>
          <a:lstStyle/>
          <a:p>
            <a:r>
              <a:rPr lang="es-ES" smtClean="0"/>
              <a:t>Haga clic para modificar el estilo de título del patrón</a:t>
            </a:r>
            <a:endParaRPr lang="es-CL"/>
          </a:p>
        </p:txBody>
      </p:sp>
      <p:sp>
        <p:nvSpPr>
          <p:cNvPr id="3" name="2 Marcador de texto vertical"/>
          <p:cNvSpPr>
            <a:spLocks noGrp="1"/>
          </p:cNvSpPr>
          <p:nvPr>
            <p:ph type="body" orient="vert" idx="1"/>
          </p:nvPr>
        </p:nvSpPr>
        <p:spPr>
          <a:xfrm>
            <a:off x="457200" y="274638"/>
            <a:ext cx="6019800" cy="5851525"/>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10"/>
          </p:nvPr>
        </p:nvSpPr>
        <p:spPr/>
        <p:txBody>
          <a:bodyPr/>
          <a:lstStyle/>
          <a:p>
            <a:fld id="{C8B15358-847B-44FF-9B07-AAEAFA747276}" type="datetimeFigureOut">
              <a:rPr lang="es-CL" smtClean="0"/>
              <a:t>20-11-2023</a:t>
            </a:fld>
            <a:endParaRPr lang="es-CL"/>
          </a:p>
        </p:txBody>
      </p:sp>
      <p:sp>
        <p:nvSpPr>
          <p:cNvPr id="5" name="4 Marcador de pie de página"/>
          <p:cNvSpPr>
            <a:spLocks noGrp="1"/>
          </p:cNvSpPr>
          <p:nvPr>
            <p:ph type="ftr" sz="quarter" idx="11"/>
          </p:nvPr>
        </p:nvSpPr>
        <p:spPr/>
        <p:txBody>
          <a:bodyPr/>
          <a:lstStyle/>
          <a:p>
            <a:endParaRPr lang="es-CL"/>
          </a:p>
        </p:txBody>
      </p:sp>
      <p:sp>
        <p:nvSpPr>
          <p:cNvPr id="6" name="5 Marcador de número de diapositiva"/>
          <p:cNvSpPr>
            <a:spLocks noGrp="1"/>
          </p:cNvSpPr>
          <p:nvPr>
            <p:ph type="sldNum" sz="quarter" idx="12"/>
          </p:nvPr>
        </p:nvSpPr>
        <p:spPr/>
        <p:txBody>
          <a:bodyPr/>
          <a:lstStyle/>
          <a:p>
            <a:fld id="{7A56A6E0-D4AB-4F1C-908F-90B4EB277C52}" type="slidenum">
              <a:rPr lang="es-CL" smtClean="0"/>
              <a:t>‹Nº›</a:t>
            </a:fld>
            <a:endParaRPr lang="es-CL"/>
          </a:p>
        </p:txBody>
      </p:sp>
    </p:spTree>
    <p:extLst>
      <p:ext uri="{BB962C8B-B14F-4D97-AF65-F5344CB8AC3E}">
        <p14:creationId xmlns:p14="http://schemas.microsoft.com/office/powerpoint/2010/main" val="2876302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título"/>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s-ES" smtClean="0"/>
              <a:t>Haga clic para modificar el estilo de título del patrón</a:t>
            </a:r>
            <a:endParaRPr lang="es-CL"/>
          </a:p>
        </p:txBody>
      </p:sp>
      <p:sp>
        <p:nvSpPr>
          <p:cNvPr id="3" name="2 Marcador de texto"/>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CL"/>
          </a:p>
        </p:txBody>
      </p:sp>
      <p:sp>
        <p:nvSpPr>
          <p:cNvPr id="4" name="3 Marcador de fecha"/>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B15358-847B-44FF-9B07-AAEAFA747276}" type="datetimeFigureOut">
              <a:rPr lang="es-CL" smtClean="0"/>
              <a:t>20-11-2023</a:t>
            </a:fld>
            <a:endParaRPr lang="es-CL"/>
          </a:p>
        </p:txBody>
      </p:sp>
      <p:sp>
        <p:nvSpPr>
          <p:cNvPr id="5" name="4 Marcador de pie de página"/>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5 Marcador de número de diapositiva"/>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A56A6E0-D4AB-4F1C-908F-90B4EB277C52}" type="slidenum">
              <a:rPr lang="es-CL" smtClean="0"/>
              <a:t>‹Nº›</a:t>
            </a:fld>
            <a:endParaRPr lang="es-CL"/>
          </a:p>
        </p:txBody>
      </p:sp>
    </p:spTree>
    <p:extLst>
      <p:ext uri="{BB962C8B-B14F-4D97-AF65-F5344CB8AC3E}">
        <p14:creationId xmlns:p14="http://schemas.microsoft.com/office/powerpoint/2010/main" val="16657727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0"/>
            <a:ext cx="9144000" cy="6090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1 Título"/>
          <p:cNvSpPr>
            <a:spLocks noGrp="1"/>
          </p:cNvSpPr>
          <p:nvPr>
            <p:ph type="ctrTitle"/>
          </p:nvPr>
        </p:nvSpPr>
        <p:spPr>
          <a:xfrm>
            <a:off x="685800" y="2204864"/>
            <a:ext cx="7772400" cy="1974081"/>
          </a:xfrm>
        </p:spPr>
        <p:style>
          <a:lnRef idx="1">
            <a:schemeClr val="accent4"/>
          </a:lnRef>
          <a:fillRef idx="3">
            <a:schemeClr val="accent4"/>
          </a:fillRef>
          <a:effectRef idx="2">
            <a:schemeClr val="accent4"/>
          </a:effectRef>
          <a:fontRef idx="minor">
            <a:schemeClr val="lt1"/>
          </a:fontRef>
        </p:style>
        <p:txBody>
          <a:bodyPr>
            <a:normAutofit fontScale="90000"/>
          </a:bodyPr>
          <a:lstStyle/>
          <a:p>
            <a:r>
              <a:rPr lang="es-CL" b="1" dirty="0" smtClean="0"/>
              <a:t>Serie de Fourier: </a:t>
            </a:r>
            <a:r>
              <a:rPr lang="es-CL" dirty="0" err="1" smtClean="0"/>
              <a:t>An</a:t>
            </a:r>
            <a:r>
              <a:rPr lang="es-CL" dirty="0" smtClean="0"/>
              <a:t> </a:t>
            </a:r>
            <a:r>
              <a:rPr lang="es-CL" dirty="0" err="1" smtClean="0"/>
              <a:t>introduction</a:t>
            </a:r>
            <a:r>
              <a:rPr lang="es-CL" dirty="0" smtClean="0"/>
              <a:t> </a:t>
            </a:r>
            <a:r>
              <a:rPr lang="es-CL" dirty="0" err="1" smtClean="0"/>
              <a:t>to</a:t>
            </a:r>
            <a:r>
              <a:rPr lang="es-CL" dirty="0" smtClean="0"/>
              <a:t> </a:t>
            </a:r>
            <a:r>
              <a:rPr lang="es-CL" dirty="0" err="1" smtClean="0"/>
              <a:t>Partial</a:t>
            </a:r>
            <a:r>
              <a:rPr lang="es-CL" dirty="0" smtClean="0"/>
              <a:t> </a:t>
            </a:r>
            <a:r>
              <a:rPr lang="es-CL" dirty="0" err="1" smtClean="0"/>
              <a:t>Differential</a:t>
            </a:r>
            <a:r>
              <a:rPr lang="es-CL" dirty="0" smtClean="0"/>
              <a:t> </a:t>
            </a:r>
            <a:r>
              <a:rPr lang="es-CL" dirty="0" err="1" smtClean="0"/>
              <a:t>Equations</a:t>
            </a:r>
            <a:r>
              <a:rPr lang="es-CL" dirty="0" smtClean="0"/>
              <a:t> (Cambridge)</a:t>
            </a:r>
            <a:endParaRPr lang="es-CL" dirty="0"/>
          </a:p>
        </p:txBody>
      </p:sp>
      <p:sp>
        <p:nvSpPr>
          <p:cNvPr id="3" name="2 Subtítulo"/>
          <p:cNvSpPr>
            <a:spLocks noGrp="1"/>
          </p:cNvSpPr>
          <p:nvPr>
            <p:ph type="subTitle" idx="1"/>
          </p:nvPr>
        </p:nvSpPr>
        <p:spPr>
          <a:xfrm>
            <a:off x="1371600" y="4797152"/>
            <a:ext cx="6400800" cy="1489720"/>
          </a:xfrm>
        </p:spPr>
        <p:style>
          <a:lnRef idx="1">
            <a:schemeClr val="accent4"/>
          </a:lnRef>
          <a:fillRef idx="2">
            <a:schemeClr val="accent4"/>
          </a:fillRef>
          <a:effectRef idx="1">
            <a:schemeClr val="accent4"/>
          </a:effectRef>
          <a:fontRef idx="minor">
            <a:schemeClr val="dk1"/>
          </a:fontRef>
        </p:style>
        <p:txBody>
          <a:bodyPr>
            <a:normAutofit fontScale="85000" lnSpcReduction="10000"/>
          </a:bodyPr>
          <a:lstStyle/>
          <a:p>
            <a:r>
              <a:rPr lang="es-CL" sz="2400" dirty="0" smtClean="0"/>
              <a:t>Natalia Alejandra Poblete Durán</a:t>
            </a:r>
          </a:p>
          <a:p>
            <a:r>
              <a:rPr lang="es-CL" sz="2400" dirty="0" smtClean="0"/>
              <a:t>Estudiante de Doctorado en Ciencias de la Bioingeniería</a:t>
            </a:r>
          </a:p>
          <a:p>
            <a:r>
              <a:rPr lang="es-CL" sz="2400" dirty="0" smtClean="0"/>
              <a:t>Métodos Matemáticos</a:t>
            </a:r>
          </a:p>
          <a:p>
            <a:r>
              <a:rPr lang="es-CL" sz="2400" dirty="0" smtClean="0"/>
              <a:t>Profesor: Dr. </a:t>
            </a:r>
            <a:r>
              <a:rPr lang="es-CL" sz="2400" dirty="0" err="1" smtClean="0"/>
              <a:t>Duván</a:t>
            </a:r>
            <a:r>
              <a:rPr lang="es-CL" sz="2400" dirty="0" smtClean="0"/>
              <a:t> Henao</a:t>
            </a:r>
          </a:p>
        </p:txBody>
      </p:sp>
      <p:pic>
        <p:nvPicPr>
          <p:cNvPr id="2052" name="Picture 4" descr="COVID-19 - UOH"/>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800747" y="0"/>
            <a:ext cx="5343253" cy="1095656"/>
          </a:xfrm>
          <a:prstGeom prst="rect">
            <a:avLst/>
          </a:prstGeom>
        </p:spPr>
        <p:style>
          <a:lnRef idx="2">
            <a:schemeClr val="accent1"/>
          </a:lnRef>
          <a:fillRef idx="1">
            <a:schemeClr val="lt1"/>
          </a:fillRef>
          <a:effectRef idx="0">
            <a:schemeClr val="accent1"/>
          </a:effectRef>
          <a:fontRef idx="minor">
            <a:schemeClr val="dk1"/>
          </a:fontRef>
        </p:style>
      </p:pic>
    </p:spTree>
    <p:extLst>
      <p:ext uri="{BB962C8B-B14F-4D97-AF65-F5344CB8AC3E}">
        <p14:creationId xmlns:p14="http://schemas.microsoft.com/office/powerpoint/2010/main" val="24037754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0" y="1"/>
            <a:ext cx="8820472" cy="764704"/>
          </a:xfrm>
        </p:spPr>
        <p:txBody>
          <a:bodyPr>
            <a:noAutofit/>
          </a:bodyPr>
          <a:lstStyle/>
          <a:p>
            <a:pPr algn="l"/>
            <a:r>
              <a:rPr lang="es-CL" sz="3600" dirty="0" smtClean="0"/>
              <a:t>La metodología de separación de variables</a:t>
            </a:r>
            <a:endParaRPr lang="es-CL" sz="3600" dirty="0"/>
          </a:p>
        </p:txBody>
      </p:sp>
      <p:cxnSp>
        <p:nvCxnSpPr>
          <p:cNvPr id="5" name="4 Conector recto"/>
          <p:cNvCxnSpPr/>
          <p:nvPr/>
        </p:nvCxnSpPr>
        <p:spPr>
          <a:xfrm>
            <a:off x="107504" y="836712"/>
            <a:ext cx="7272808" cy="0"/>
          </a:xfrm>
          <a:prstGeom prst="line">
            <a:avLst/>
          </a:prstGeom>
          <a:ln w="25400">
            <a:solidFill>
              <a:srgbClr val="7030A0">
                <a:alpha val="44000"/>
              </a:srgbClr>
            </a:solidFill>
          </a:ln>
        </p:spPr>
        <p:style>
          <a:lnRef idx="1">
            <a:schemeClr val="accent1"/>
          </a:lnRef>
          <a:fillRef idx="0">
            <a:schemeClr val="accent1"/>
          </a:fillRef>
          <a:effectRef idx="0">
            <a:schemeClr val="accent1"/>
          </a:effectRef>
          <a:fontRef idx="minor">
            <a:schemeClr val="tx1"/>
          </a:fontRef>
        </p:style>
      </p:cxnSp>
      <p:sp>
        <p:nvSpPr>
          <p:cNvPr id="6" name="5 Rectángulo"/>
          <p:cNvSpPr/>
          <p:nvPr/>
        </p:nvSpPr>
        <p:spPr>
          <a:xfrm>
            <a:off x="611560" y="5013176"/>
            <a:ext cx="4572000" cy="1477328"/>
          </a:xfrm>
          <a:prstGeom prst="rect">
            <a:avLst/>
          </a:prstGeom>
        </p:spPr>
        <p:txBody>
          <a:bodyPr>
            <a:spAutoFit/>
          </a:bodyPr>
          <a:lstStyle/>
          <a:p>
            <a:pPr algn="just"/>
            <a:r>
              <a:rPr lang="es-MX" dirty="0"/>
              <a:t>Su enfoque revolucionario no solo proporcionó soluciones efectivas para la ecuación del calor, sino que también allanó el camino para avances sustanciales en la ciencia y la tecnología.</a:t>
            </a:r>
            <a:endParaRPr lang="es-CL" dirty="0"/>
          </a:p>
        </p:txBody>
      </p:sp>
      <p:sp>
        <p:nvSpPr>
          <p:cNvPr id="7" name="6 Rectángulo"/>
          <p:cNvSpPr/>
          <p:nvPr/>
        </p:nvSpPr>
        <p:spPr>
          <a:xfrm>
            <a:off x="611560" y="1268760"/>
            <a:ext cx="3600400" cy="1754326"/>
          </a:xfrm>
          <a:prstGeom prst="rect">
            <a:avLst/>
          </a:prstGeom>
        </p:spPr>
        <p:txBody>
          <a:bodyPr wrap="square">
            <a:spAutoFit/>
          </a:bodyPr>
          <a:lstStyle/>
          <a:p>
            <a:pPr algn="just"/>
            <a:r>
              <a:rPr lang="es-CL" dirty="0"/>
              <a:t>Jean-</a:t>
            </a:r>
            <a:r>
              <a:rPr lang="es-CL" dirty="0" err="1"/>
              <a:t>Baptiste</a:t>
            </a:r>
            <a:r>
              <a:rPr lang="es-CL" dirty="0"/>
              <a:t> Joseph </a:t>
            </a:r>
            <a:r>
              <a:rPr lang="es-CL" dirty="0" smtClean="0"/>
              <a:t>Fourier</a:t>
            </a:r>
            <a:r>
              <a:rPr lang="es-MX" dirty="0" smtClean="0"/>
              <a:t>, matemático y físico francés, contribuyó de manera </a:t>
            </a:r>
            <a:r>
              <a:rPr lang="es-MX" dirty="0"/>
              <a:t>significativa a la resolución de problemas de valor inicial y de </a:t>
            </a:r>
            <a:r>
              <a:rPr lang="es-MX" dirty="0" smtClean="0"/>
              <a:t>contorno </a:t>
            </a:r>
            <a:r>
              <a:rPr lang="es-MX" dirty="0" smtClean="0"/>
              <a:t>sobre la conducción del calor</a:t>
            </a:r>
            <a:r>
              <a:rPr lang="es-MX" dirty="0" smtClean="0"/>
              <a:t>. </a:t>
            </a:r>
            <a:endParaRPr lang="es-CL" dirty="0"/>
          </a:p>
        </p:txBody>
      </p:sp>
      <p:sp>
        <p:nvSpPr>
          <p:cNvPr id="8" name="7 Rectángulo"/>
          <p:cNvSpPr/>
          <p:nvPr/>
        </p:nvSpPr>
        <p:spPr>
          <a:xfrm>
            <a:off x="4831739" y="3258850"/>
            <a:ext cx="3950906" cy="1754326"/>
          </a:xfrm>
          <a:prstGeom prst="rect">
            <a:avLst/>
          </a:prstGeom>
        </p:spPr>
        <p:txBody>
          <a:bodyPr wrap="square">
            <a:spAutoFit/>
          </a:bodyPr>
          <a:lstStyle/>
          <a:p>
            <a:pPr algn="just"/>
            <a:r>
              <a:rPr lang="es-MX" dirty="0" smtClean="0"/>
              <a:t>Fourier propuso la audaz idea de representar cualquier función de valor real definida en un intervalo cerrado como una serie de funciones trigonométricas, conocida hoy como la expansión de Fourier.</a:t>
            </a:r>
            <a:endParaRPr lang="es-CL" dirty="0"/>
          </a:p>
        </p:txBody>
      </p:sp>
      <p:pic>
        <p:nvPicPr>
          <p:cNvPr id="1028" name="Picture 4" descr="https://upload.wikimedia.org/wikipedia/commons/thumb/a/aa/Joseph_Fourier.jpg/220px-Joseph_Fourier.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0673" y="1034925"/>
            <a:ext cx="1703655" cy="2083106"/>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030" name="Picture 6" descr="Ricardo Cabrera, CALOR Y TERMODINAMICA, conducción, ejercicios resueltos"/>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3258850"/>
            <a:ext cx="2667000" cy="1590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27888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0" y="1"/>
            <a:ext cx="8820472" cy="764704"/>
          </a:xfrm>
        </p:spPr>
        <p:txBody>
          <a:bodyPr>
            <a:noAutofit/>
          </a:bodyPr>
          <a:lstStyle/>
          <a:p>
            <a:pPr algn="l"/>
            <a:r>
              <a:rPr lang="es-MX" sz="2800" dirty="0"/>
              <a:t>Ecuación del </a:t>
            </a:r>
            <a:r>
              <a:rPr lang="es-MX" sz="2800" dirty="0" smtClean="0"/>
              <a:t>calor: condición </a:t>
            </a:r>
            <a:r>
              <a:rPr lang="es-MX" sz="2800" dirty="0"/>
              <a:t>de contorno homogénea</a:t>
            </a:r>
            <a:endParaRPr lang="es-CL" sz="2800" dirty="0"/>
          </a:p>
        </p:txBody>
      </p:sp>
      <p:cxnSp>
        <p:nvCxnSpPr>
          <p:cNvPr id="5" name="4 Conector recto"/>
          <p:cNvCxnSpPr/>
          <p:nvPr/>
        </p:nvCxnSpPr>
        <p:spPr>
          <a:xfrm>
            <a:off x="107504" y="836712"/>
            <a:ext cx="7272808" cy="0"/>
          </a:xfrm>
          <a:prstGeom prst="line">
            <a:avLst/>
          </a:prstGeom>
          <a:ln w="25400">
            <a:solidFill>
              <a:srgbClr val="7030A0">
                <a:alpha val="44000"/>
              </a:srgbClr>
            </a:solidFill>
          </a:ln>
        </p:spPr>
        <p:style>
          <a:lnRef idx="1">
            <a:schemeClr val="accent1"/>
          </a:lnRef>
          <a:fillRef idx="0">
            <a:schemeClr val="accent1"/>
          </a:fillRef>
          <a:effectRef idx="0">
            <a:schemeClr val="accent1"/>
          </a:effectRef>
          <a:fontRef idx="minor">
            <a:schemeClr val="tx1"/>
          </a:fontRef>
        </p:style>
      </p:cxnSp>
      <p:sp>
        <p:nvSpPr>
          <p:cNvPr id="3" name="2 Rectángulo"/>
          <p:cNvSpPr/>
          <p:nvPr/>
        </p:nvSpPr>
        <p:spPr>
          <a:xfrm>
            <a:off x="485800" y="1196752"/>
            <a:ext cx="7974632" cy="5078313"/>
          </a:xfrm>
          <a:prstGeom prst="rect">
            <a:avLst/>
          </a:prstGeom>
        </p:spPr>
        <p:txBody>
          <a:bodyPr wrap="square">
            <a:spAutoFit/>
          </a:bodyPr>
          <a:lstStyle/>
          <a:p>
            <a:pPr algn="just"/>
            <a:r>
              <a:rPr lang="es-MX" dirty="0"/>
              <a:t>Cuando se trabaja con la ecuación del calor y se menciona una "condición de frontera homogénea", se está refiriendo a la especificación de cómo se comporta la solución de la ecuación en los límites del dominio espacial. La condición de frontera homogénea implica que la temperatura (o la función que describe la variable física en cuestión) y sus derivadas espaciales en los extremos del dominio son iguales a cero</a:t>
            </a:r>
            <a:r>
              <a:rPr lang="es-MX" dirty="0" smtClean="0"/>
              <a:t>.</a:t>
            </a:r>
          </a:p>
          <a:p>
            <a:pPr algn="just"/>
            <a:endParaRPr lang="es-MX" dirty="0"/>
          </a:p>
          <a:p>
            <a:pPr algn="just"/>
            <a:r>
              <a:rPr lang="es-MX" dirty="0"/>
              <a:t>Entonces, una condición de frontera homogénea para la ecuación del calor podría expresarse de la siguiente manera</a:t>
            </a:r>
            <a:r>
              <a:rPr lang="es-MX" dirty="0" smtClean="0"/>
              <a:t>:</a:t>
            </a:r>
          </a:p>
          <a:p>
            <a:pPr algn="just"/>
            <a:endParaRPr lang="es-MX" dirty="0"/>
          </a:p>
          <a:p>
            <a:pPr marL="285750" indent="-285750">
              <a:buFont typeface="Arial" pitchFamily="34" charset="0"/>
              <a:buChar char="•"/>
            </a:pPr>
            <a:r>
              <a:rPr lang="es-MX" b="1" i="1" dirty="0"/>
              <a:t>u</a:t>
            </a:r>
            <a:r>
              <a:rPr lang="es-MX" b="1" dirty="0"/>
              <a:t>(0,</a:t>
            </a:r>
            <a:r>
              <a:rPr lang="es-MX" b="1" i="1" dirty="0"/>
              <a:t>t</a:t>
            </a:r>
            <a:r>
              <a:rPr lang="es-MX" b="1" dirty="0" smtClean="0"/>
              <a:t>)= </a:t>
            </a:r>
            <a:r>
              <a:rPr lang="es-MX" b="1" i="1" dirty="0" smtClean="0"/>
              <a:t>u</a:t>
            </a:r>
            <a:r>
              <a:rPr lang="es-MX" b="1" dirty="0" smtClean="0"/>
              <a:t>(</a:t>
            </a:r>
            <a:r>
              <a:rPr lang="es-MX" b="1" i="1" dirty="0" err="1" smtClean="0"/>
              <a:t>L,t</a:t>
            </a:r>
            <a:r>
              <a:rPr lang="es-MX" b="1" dirty="0" smtClean="0"/>
              <a:t>)=0    </a:t>
            </a:r>
          </a:p>
          <a:p>
            <a:pPr marL="285750" indent="-285750">
              <a:buFont typeface="Arial" pitchFamily="34" charset="0"/>
              <a:buChar char="•"/>
            </a:pPr>
            <a:r>
              <a:rPr lang="es-MX" b="1" i="1" dirty="0" smtClean="0"/>
              <a:t>f</a:t>
            </a:r>
            <a:r>
              <a:rPr lang="es-MX" b="1" dirty="0" smtClean="0"/>
              <a:t>(0)=</a:t>
            </a:r>
            <a:r>
              <a:rPr lang="es-MX" b="1" i="1" dirty="0" smtClean="0"/>
              <a:t>f</a:t>
            </a:r>
            <a:r>
              <a:rPr lang="es-MX" b="1" dirty="0" smtClean="0"/>
              <a:t>(</a:t>
            </a:r>
            <a:r>
              <a:rPr lang="es-MX" b="1" i="1" dirty="0" smtClean="0"/>
              <a:t>L</a:t>
            </a:r>
            <a:r>
              <a:rPr lang="es-MX" b="1" dirty="0" smtClean="0"/>
              <a:t>)=0</a:t>
            </a:r>
            <a:endParaRPr lang="es-MX" b="1" dirty="0"/>
          </a:p>
          <a:p>
            <a:pPr algn="just"/>
            <a:endParaRPr lang="es-CL" dirty="0" smtClean="0"/>
          </a:p>
          <a:p>
            <a:pPr algn="just"/>
            <a:r>
              <a:rPr lang="es-MX" dirty="0" smtClean="0"/>
              <a:t>Donde </a:t>
            </a:r>
            <a:r>
              <a:rPr lang="es-MX" i="1" dirty="0" smtClean="0"/>
              <a:t>u</a:t>
            </a:r>
            <a:r>
              <a:rPr lang="es-MX" dirty="0" smtClean="0"/>
              <a:t>(</a:t>
            </a:r>
            <a:r>
              <a:rPr lang="es-MX" i="1" dirty="0" err="1" smtClean="0"/>
              <a:t>x</a:t>
            </a:r>
            <a:r>
              <a:rPr lang="es-MX" dirty="0" err="1" smtClean="0"/>
              <a:t>,</a:t>
            </a:r>
            <a:r>
              <a:rPr lang="es-MX" i="1" dirty="0" err="1" smtClean="0"/>
              <a:t>t</a:t>
            </a:r>
            <a:r>
              <a:rPr lang="es-MX" dirty="0"/>
              <a:t>) representa la temperatura en la posición </a:t>
            </a:r>
            <a:r>
              <a:rPr lang="es-MX" i="1" dirty="0" smtClean="0"/>
              <a:t>x</a:t>
            </a:r>
            <a:r>
              <a:rPr lang="es-MX" dirty="0" smtClean="0"/>
              <a:t> </a:t>
            </a:r>
            <a:r>
              <a:rPr lang="es-MX" dirty="0"/>
              <a:t>y el tiempo </a:t>
            </a:r>
            <a:r>
              <a:rPr lang="es-MX" i="1" dirty="0" smtClean="0"/>
              <a:t>t</a:t>
            </a:r>
            <a:r>
              <a:rPr lang="es-MX" dirty="0"/>
              <a:t>, y </a:t>
            </a:r>
            <a:r>
              <a:rPr lang="es-MX" i="1" dirty="0" smtClean="0"/>
              <a:t>L</a:t>
            </a:r>
            <a:r>
              <a:rPr lang="es-MX" dirty="0" smtClean="0"/>
              <a:t> </a:t>
            </a:r>
            <a:r>
              <a:rPr lang="es-MX" dirty="0"/>
              <a:t>es la longitud total de la región espacial. Estas condiciones indican que la temperatura en los extremos de la barra (en </a:t>
            </a:r>
            <a:r>
              <a:rPr lang="es-MX" i="1" dirty="0" smtClean="0"/>
              <a:t>x</a:t>
            </a:r>
            <a:r>
              <a:rPr lang="es-MX" dirty="0" smtClean="0"/>
              <a:t>=0 y </a:t>
            </a:r>
            <a:r>
              <a:rPr lang="es-MX" i="1" dirty="0" smtClean="0"/>
              <a:t>x</a:t>
            </a:r>
            <a:r>
              <a:rPr lang="es-MX" dirty="0" smtClean="0"/>
              <a:t>=</a:t>
            </a:r>
            <a:r>
              <a:rPr lang="es-MX" i="1" dirty="0" smtClean="0"/>
              <a:t>L</a:t>
            </a:r>
            <a:r>
              <a:rPr lang="es-MX" dirty="0"/>
              <a:t>) es cero en todo momento. Además, esto implica que las derivadas espaciales de la temperatura también son cero en esos puntos.</a:t>
            </a:r>
            <a:endParaRPr lang="es-CL" dirty="0"/>
          </a:p>
        </p:txBody>
      </p:sp>
    </p:spTree>
    <p:extLst>
      <p:ext uri="{BB962C8B-B14F-4D97-AF65-F5344CB8AC3E}">
        <p14:creationId xmlns:p14="http://schemas.microsoft.com/office/powerpoint/2010/main" val="42099664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0" y="1"/>
            <a:ext cx="8820472" cy="764704"/>
          </a:xfrm>
        </p:spPr>
        <p:txBody>
          <a:bodyPr>
            <a:noAutofit/>
          </a:bodyPr>
          <a:lstStyle/>
          <a:p>
            <a:pPr algn="l"/>
            <a:r>
              <a:rPr lang="es-MX" sz="2800" dirty="0"/>
              <a:t>Ecuación del </a:t>
            </a:r>
            <a:r>
              <a:rPr lang="es-MX" sz="2800" dirty="0" smtClean="0"/>
              <a:t>calor: condición </a:t>
            </a:r>
            <a:r>
              <a:rPr lang="es-MX" sz="2800" dirty="0"/>
              <a:t>de contorno homogénea</a:t>
            </a:r>
            <a:endParaRPr lang="es-CL" sz="2800" dirty="0"/>
          </a:p>
        </p:txBody>
      </p:sp>
      <p:cxnSp>
        <p:nvCxnSpPr>
          <p:cNvPr id="5" name="4 Conector recto"/>
          <p:cNvCxnSpPr/>
          <p:nvPr/>
        </p:nvCxnSpPr>
        <p:spPr>
          <a:xfrm>
            <a:off x="107504" y="836712"/>
            <a:ext cx="7272808" cy="0"/>
          </a:xfrm>
          <a:prstGeom prst="line">
            <a:avLst/>
          </a:prstGeom>
          <a:ln w="25400">
            <a:solidFill>
              <a:srgbClr val="7030A0">
                <a:alpha val="44000"/>
              </a:srgbClr>
            </a:solidFill>
          </a:ln>
        </p:spPr>
        <p:style>
          <a:lnRef idx="1">
            <a:schemeClr val="accent1"/>
          </a:lnRef>
          <a:fillRef idx="0">
            <a:schemeClr val="accent1"/>
          </a:fillRef>
          <a:effectRef idx="0">
            <a:schemeClr val="accent1"/>
          </a:effectRef>
          <a:fontRef idx="minor">
            <a:schemeClr val="tx1"/>
          </a:fontRef>
        </p:style>
      </p:cxnSp>
      <p:sp>
        <p:nvSpPr>
          <p:cNvPr id="4" name="3 CuadroTexto"/>
          <p:cNvSpPr txBox="1"/>
          <p:nvPr/>
        </p:nvSpPr>
        <p:spPr>
          <a:xfrm>
            <a:off x="494724" y="1196752"/>
            <a:ext cx="5256584" cy="5016758"/>
          </a:xfrm>
          <a:prstGeom prst="rect">
            <a:avLst/>
          </a:prstGeom>
          <a:noFill/>
        </p:spPr>
        <p:txBody>
          <a:bodyPr wrap="square" rtlCol="0">
            <a:spAutoFit/>
          </a:bodyPr>
          <a:lstStyle/>
          <a:p>
            <a:pPr algn="just"/>
            <a:r>
              <a:rPr lang="es-MX" sz="1600" b="1" dirty="0"/>
              <a:t>La </a:t>
            </a:r>
            <a:r>
              <a:rPr lang="es-MX" sz="1600" b="1" dirty="0" smtClean="0"/>
              <a:t>ecuación </a:t>
            </a:r>
            <a:r>
              <a:rPr lang="es-MX" sz="1600" b="1" i="1" dirty="0" smtClean="0"/>
              <a:t>u</a:t>
            </a:r>
            <a:r>
              <a:rPr lang="es-MX" sz="1600" b="1" i="1" baseline="-25000" dirty="0" smtClean="0"/>
              <a:t>t</a:t>
            </a:r>
            <a:r>
              <a:rPr lang="es-MX" sz="1600" b="1" dirty="0"/>
              <a:t>​−</a:t>
            </a:r>
            <a:r>
              <a:rPr lang="es-MX" sz="1600" b="1" i="1" dirty="0" err="1"/>
              <a:t>ku</a:t>
            </a:r>
            <a:r>
              <a:rPr lang="es-MX" sz="1600" b="1" i="1" baseline="-25000" dirty="0" err="1"/>
              <a:t>xx</a:t>
            </a:r>
            <a:r>
              <a:rPr lang="es-MX" sz="1600" b="1" baseline="-25000" dirty="0"/>
              <a:t>​</a:t>
            </a:r>
            <a:r>
              <a:rPr lang="es-MX" sz="1600" b="1" dirty="0"/>
              <a:t>=0 </a:t>
            </a:r>
            <a:endParaRPr lang="es-MX" sz="1600" b="1" dirty="0" smtClean="0"/>
          </a:p>
          <a:p>
            <a:pPr algn="just"/>
            <a:endParaRPr lang="es-MX" sz="1600" dirty="0"/>
          </a:p>
          <a:p>
            <a:pPr algn="just"/>
            <a:r>
              <a:rPr lang="es-MX" sz="1600" dirty="0"/>
              <a:t>R</a:t>
            </a:r>
            <a:r>
              <a:rPr lang="es-MX" sz="1600" dirty="0" smtClean="0"/>
              <a:t>epresenta </a:t>
            </a:r>
            <a:r>
              <a:rPr lang="es-MX" sz="1600" dirty="0"/>
              <a:t>una forma específica de la ecuación de calor unidimensional con una condición inicial y ciertas condiciones de frontera. E</a:t>
            </a:r>
            <a:r>
              <a:rPr lang="es-MX" sz="1600" dirty="0" smtClean="0"/>
              <a:t>xplicación </a:t>
            </a:r>
            <a:r>
              <a:rPr lang="es-MX" sz="1600" dirty="0"/>
              <a:t>de los términos y las condiciones</a:t>
            </a:r>
            <a:r>
              <a:rPr lang="es-MX" sz="1600" dirty="0" smtClean="0"/>
              <a:t>:</a:t>
            </a:r>
          </a:p>
          <a:p>
            <a:pPr algn="just"/>
            <a:endParaRPr lang="es-MX" sz="1600" dirty="0"/>
          </a:p>
          <a:p>
            <a:pPr marL="285750" indent="-285750" algn="just">
              <a:buFont typeface="Arial" pitchFamily="34" charset="0"/>
              <a:buChar char="•"/>
            </a:pPr>
            <a:r>
              <a:rPr lang="es-MX" sz="1600" b="1" i="1" dirty="0" smtClean="0"/>
              <a:t>u</a:t>
            </a:r>
            <a:r>
              <a:rPr lang="es-MX" sz="1600" b="1" dirty="0" smtClean="0"/>
              <a:t>(</a:t>
            </a:r>
            <a:r>
              <a:rPr lang="es-MX" sz="1600" b="1" i="1" dirty="0" err="1" smtClean="0"/>
              <a:t>x</a:t>
            </a:r>
            <a:r>
              <a:rPr lang="es-MX" sz="1600" b="1" dirty="0" err="1" smtClean="0"/>
              <a:t>,</a:t>
            </a:r>
            <a:r>
              <a:rPr lang="es-MX" sz="1600" b="1" i="1" dirty="0" err="1" smtClean="0"/>
              <a:t>t</a:t>
            </a:r>
            <a:r>
              <a:rPr lang="es-MX" sz="1600" b="1" dirty="0"/>
              <a:t>): </a:t>
            </a:r>
            <a:r>
              <a:rPr lang="es-MX" sz="1600" dirty="0"/>
              <a:t>Representa la temperatura (o la variable física en estudio) en la posición </a:t>
            </a:r>
            <a:r>
              <a:rPr lang="es-MX" sz="1600" i="1" dirty="0" smtClean="0"/>
              <a:t>x</a:t>
            </a:r>
            <a:r>
              <a:rPr lang="es-MX" sz="1600" dirty="0" smtClean="0"/>
              <a:t> </a:t>
            </a:r>
            <a:r>
              <a:rPr lang="es-MX" sz="1600" dirty="0"/>
              <a:t>y el tiempo </a:t>
            </a:r>
            <a:r>
              <a:rPr lang="es-MX" sz="1600" i="1" dirty="0" smtClean="0"/>
              <a:t>t</a:t>
            </a:r>
            <a:r>
              <a:rPr lang="es-MX" sz="1600" dirty="0"/>
              <a:t>.</a:t>
            </a:r>
          </a:p>
          <a:p>
            <a:pPr marL="285750" indent="-285750" algn="just">
              <a:buFont typeface="Arial" pitchFamily="34" charset="0"/>
              <a:buChar char="•"/>
            </a:pPr>
            <a:r>
              <a:rPr lang="es-MX" sz="1600" b="1" i="1" dirty="0" smtClean="0"/>
              <a:t>ut</a:t>
            </a:r>
            <a:r>
              <a:rPr lang="es-MX" sz="1600" b="1" dirty="0"/>
              <a:t>​: </a:t>
            </a:r>
            <a:r>
              <a:rPr lang="es-MX" sz="1600" dirty="0"/>
              <a:t>Es la derivada parcial de </a:t>
            </a:r>
            <a:r>
              <a:rPr lang="es-MX" sz="1600" i="1" dirty="0" smtClean="0"/>
              <a:t>u</a:t>
            </a:r>
            <a:r>
              <a:rPr lang="es-MX" sz="1600" dirty="0" smtClean="0"/>
              <a:t> </a:t>
            </a:r>
            <a:r>
              <a:rPr lang="es-MX" sz="1600" dirty="0"/>
              <a:t>con respecto al tiempo </a:t>
            </a:r>
            <a:r>
              <a:rPr lang="es-MX" sz="1600" i="1" dirty="0" smtClean="0"/>
              <a:t>t</a:t>
            </a:r>
            <a:r>
              <a:rPr lang="es-MX" sz="1600" dirty="0"/>
              <a:t>.</a:t>
            </a:r>
          </a:p>
          <a:p>
            <a:pPr marL="285750" indent="-285750" algn="just">
              <a:buFont typeface="Arial" pitchFamily="34" charset="0"/>
              <a:buChar char="•"/>
            </a:pPr>
            <a:r>
              <a:rPr lang="es-MX" sz="1600" b="1" i="1" dirty="0" err="1" smtClean="0"/>
              <a:t>uxx</a:t>
            </a:r>
            <a:r>
              <a:rPr lang="es-MX" sz="1600" b="1" dirty="0"/>
              <a:t>​: </a:t>
            </a:r>
            <a:r>
              <a:rPr lang="es-MX" sz="1600" dirty="0"/>
              <a:t>Es la segunda derivada parcial de </a:t>
            </a:r>
            <a:r>
              <a:rPr lang="es-MX" sz="1600" i="1" dirty="0" smtClean="0"/>
              <a:t>u</a:t>
            </a:r>
            <a:r>
              <a:rPr lang="es-MX" sz="1600" dirty="0" smtClean="0"/>
              <a:t> </a:t>
            </a:r>
            <a:r>
              <a:rPr lang="es-MX" sz="1600" dirty="0"/>
              <a:t>con respecto a la posición </a:t>
            </a:r>
            <a:r>
              <a:rPr lang="es-MX" sz="1600" i="1" dirty="0" smtClean="0"/>
              <a:t>x</a:t>
            </a:r>
            <a:r>
              <a:rPr lang="es-MX" sz="1600" dirty="0"/>
              <a:t>.</a:t>
            </a:r>
          </a:p>
          <a:p>
            <a:pPr marL="285750" indent="-285750" algn="just">
              <a:buFont typeface="Arial" pitchFamily="34" charset="0"/>
              <a:buChar char="•"/>
            </a:pPr>
            <a:r>
              <a:rPr lang="es-MX" sz="1600" b="1" i="1" dirty="0" smtClean="0"/>
              <a:t>k</a:t>
            </a:r>
            <a:r>
              <a:rPr lang="es-MX" sz="1600" b="1" dirty="0"/>
              <a:t>: </a:t>
            </a:r>
            <a:r>
              <a:rPr lang="es-MX" sz="1600" dirty="0"/>
              <a:t>Es una constante positiva que representa la </a:t>
            </a:r>
            <a:r>
              <a:rPr lang="es-MX" sz="1600" dirty="0" err="1"/>
              <a:t>difusividad</a:t>
            </a:r>
            <a:r>
              <a:rPr lang="es-MX" sz="1600" dirty="0"/>
              <a:t> térmica del material</a:t>
            </a:r>
            <a:r>
              <a:rPr lang="es-MX" sz="1600" dirty="0" smtClean="0"/>
              <a:t>.</a:t>
            </a:r>
          </a:p>
          <a:p>
            <a:pPr marL="285750" indent="-285750" algn="just">
              <a:buFont typeface="Arial" pitchFamily="34" charset="0"/>
              <a:buChar char="•"/>
            </a:pPr>
            <a:endParaRPr lang="es-MX" sz="1600" dirty="0"/>
          </a:p>
          <a:p>
            <a:pPr algn="just"/>
            <a:r>
              <a:rPr lang="es-MX" sz="1600" dirty="0"/>
              <a:t>Entonces, la </a:t>
            </a:r>
            <a:r>
              <a:rPr lang="es-MX" sz="1600" dirty="0" smtClean="0"/>
              <a:t>ecuación </a:t>
            </a:r>
            <a:r>
              <a:rPr lang="es-MX" sz="1600" b="1" i="1" dirty="0" smtClean="0"/>
              <a:t>u</a:t>
            </a:r>
            <a:r>
              <a:rPr lang="es-MX" sz="1600" b="1" i="1" baseline="-25000" dirty="0" smtClean="0"/>
              <a:t>t</a:t>
            </a:r>
            <a:r>
              <a:rPr lang="es-MX" sz="1600" b="1" dirty="0"/>
              <a:t>​−</a:t>
            </a:r>
            <a:r>
              <a:rPr lang="es-MX" sz="1600" b="1" i="1" dirty="0" err="1"/>
              <a:t>ku</a:t>
            </a:r>
            <a:r>
              <a:rPr lang="es-MX" sz="1600" b="1" i="1" baseline="-25000" dirty="0" err="1"/>
              <a:t>xx</a:t>
            </a:r>
            <a:r>
              <a:rPr lang="es-MX" sz="1600" b="1" dirty="0"/>
              <a:t>​=0 </a:t>
            </a:r>
            <a:r>
              <a:rPr lang="es-MX" sz="1600" dirty="0"/>
              <a:t>es una ecuación de calor unidimensional, donde la tasa de cambio de la temperatura con respecto al tiempo </a:t>
            </a:r>
            <a:r>
              <a:rPr lang="es-MX" sz="1600" dirty="0" smtClean="0"/>
              <a:t>(</a:t>
            </a:r>
            <a:r>
              <a:rPr lang="es-MX" sz="1600" i="1" dirty="0" smtClean="0"/>
              <a:t>ut</a:t>
            </a:r>
            <a:r>
              <a:rPr lang="es-MX" sz="1600" dirty="0"/>
              <a:t>​) es igual al producto de la constante </a:t>
            </a:r>
            <a:r>
              <a:rPr lang="es-MX" sz="1600" i="1" dirty="0" smtClean="0"/>
              <a:t>k</a:t>
            </a:r>
            <a:r>
              <a:rPr lang="es-MX" sz="1600" dirty="0" smtClean="0"/>
              <a:t> </a:t>
            </a:r>
            <a:r>
              <a:rPr lang="es-MX" sz="1600" dirty="0"/>
              <a:t>y la segunda derivada espacial de la temperatura </a:t>
            </a:r>
            <a:r>
              <a:rPr lang="es-MX" sz="1600" dirty="0" smtClean="0"/>
              <a:t>(</a:t>
            </a:r>
            <a:r>
              <a:rPr lang="es-MX" sz="1600" i="1" dirty="0" err="1" smtClean="0"/>
              <a:t>uxx</a:t>
            </a:r>
            <a:r>
              <a:rPr lang="es-MX" sz="1600" dirty="0"/>
              <a:t>​).</a:t>
            </a:r>
          </a:p>
        </p:txBody>
      </p:sp>
      <p:pic>
        <p:nvPicPr>
          <p:cNvPr id="5122" name="Picture 2" descr="Heat Equation Mixed Boundary Condition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80708" y="2204864"/>
            <a:ext cx="3113564" cy="2736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14647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ctrTitle"/>
          </p:nvPr>
        </p:nvSpPr>
        <p:spPr>
          <a:xfrm>
            <a:off x="0" y="1"/>
            <a:ext cx="8820472" cy="764704"/>
          </a:xfrm>
        </p:spPr>
        <p:txBody>
          <a:bodyPr>
            <a:noAutofit/>
          </a:bodyPr>
          <a:lstStyle/>
          <a:p>
            <a:pPr algn="l"/>
            <a:r>
              <a:rPr lang="es-MX" sz="2800" dirty="0"/>
              <a:t>Ecuación del </a:t>
            </a:r>
            <a:r>
              <a:rPr lang="es-MX" sz="2800" dirty="0" smtClean="0"/>
              <a:t>calor: condición </a:t>
            </a:r>
            <a:r>
              <a:rPr lang="es-MX" sz="2800" dirty="0"/>
              <a:t>de contorno homogénea</a:t>
            </a:r>
            <a:endParaRPr lang="es-CL" sz="2800" dirty="0"/>
          </a:p>
        </p:txBody>
      </p:sp>
      <p:cxnSp>
        <p:nvCxnSpPr>
          <p:cNvPr id="5" name="4 Conector recto"/>
          <p:cNvCxnSpPr/>
          <p:nvPr/>
        </p:nvCxnSpPr>
        <p:spPr>
          <a:xfrm>
            <a:off x="107504" y="836712"/>
            <a:ext cx="7272808" cy="0"/>
          </a:xfrm>
          <a:prstGeom prst="line">
            <a:avLst/>
          </a:prstGeom>
          <a:ln w="25400">
            <a:solidFill>
              <a:srgbClr val="7030A0">
                <a:alpha val="44000"/>
              </a:srgbClr>
            </a:solidFill>
          </a:ln>
        </p:spPr>
        <p:style>
          <a:lnRef idx="1">
            <a:schemeClr val="accent1"/>
          </a:lnRef>
          <a:fillRef idx="0">
            <a:schemeClr val="accent1"/>
          </a:fillRef>
          <a:effectRef idx="0">
            <a:schemeClr val="accent1"/>
          </a:effectRef>
          <a:fontRef idx="minor">
            <a:schemeClr val="tx1"/>
          </a:fontRef>
        </p:style>
      </p:cxnSp>
      <p:sp>
        <p:nvSpPr>
          <p:cNvPr id="3" name="2 Rectángulo"/>
          <p:cNvSpPr/>
          <p:nvPr/>
        </p:nvSpPr>
        <p:spPr>
          <a:xfrm>
            <a:off x="539552" y="1268760"/>
            <a:ext cx="8064896" cy="5355312"/>
          </a:xfrm>
          <a:prstGeom prst="rect">
            <a:avLst/>
          </a:prstGeom>
        </p:spPr>
        <p:txBody>
          <a:bodyPr wrap="square">
            <a:spAutoFit/>
          </a:bodyPr>
          <a:lstStyle/>
          <a:p>
            <a:pPr algn="just"/>
            <a:r>
              <a:rPr lang="es-MX" dirty="0" smtClean="0"/>
              <a:t>Si la ecuación </a:t>
            </a:r>
            <a:r>
              <a:rPr lang="es-MX" i="1" dirty="0" smtClean="0"/>
              <a:t>u</a:t>
            </a:r>
            <a:r>
              <a:rPr lang="es-MX" i="1" baseline="-25000" dirty="0" smtClean="0"/>
              <a:t>t</a:t>
            </a:r>
            <a:r>
              <a:rPr lang="es-MX" dirty="0"/>
              <a:t>​−</a:t>
            </a:r>
            <a:r>
              <a:rPr lang="es-MX" i="1" dirty="0" err="1"/>
              <a:t>ku</a:t>
            </a:r>
            <a:r>
              <a:rPr lang="es-MX" i="1" baseline="-25000" dirty="0" err="1"/>
              <a:t>xx</a:t>
            </a:r>
            <a:r>
              <a:rPr lang="es-MX" dirty="0"/>
              <a:t>​=0 se asocia con una condición </a:t>
            </a:r>
            <a:r>
              <a:rPr lang="es-MX" dirty="0" smtClean="0"/>
              <a:t>inicial </a:t>
            </a:r>
            <a:r>
              <a:rPr lang="es-MX" i="1" dirty="0" smtClean="0"/>
              <a:t>u</a:t>
            </a:r>
            <a:r>
              <a:rPr lang="es-MX" dirty="0" smtClean="0"/>
              <a:t>(</a:t>
            </a:r>
            <a:r>
              <a:rPr lang="es-MX" i="1" dirty="0" smtClean="0"/>
              <a:t>x</a:t>
            </a:r>
            <a:r>
              <a:rPr lang="es-MX" dirty="0" smtClean="0"/>
              <a:t>,0</a:t>
            </a:r>
            <a:r>
              <a:rPr lang="es-MX" dirty="0"/>
              <a:t>)=</a:t>
            </a:r>
            <a:r>
              <a:rPr lang="es-MX" i="1" dirty="0"/>
              <a:t>f</a:t>
            </a:r>
            <a:r>
              <a:rPr lang="es-MX" dirty="0"/>
              <a:t>(</a:t>
            </a:r>
            <a:r>
              <a:rPr lang="es-MX" i="1" dirty="0"/>
              <a:t>x</a:t>
            </a:r>
            <a:r>
              <a:rPr lang="es-MX" dirty="0"/>
              <a:t>) y condiciones de frontera homogéneas </a:t>
            </a:r>
            <a:r>
              <a:rPr lang="es-MX" i="1" dirty="0" smtClean="0"/>
              <a:t>u</a:t>
            </a:r>
            <a:r>
              <a:rPr lang="es-MX" dirty="0" smtClean="0"/>
              <a:t>(0,</a:t>
            </a:r>
            <a:r>
              <a:rPr lang="es-MX" i="1" dirty="0" smtClean="0"/>
              <a:t>t</a:t>
            </a:r>
            <a:r>
              <a:rPr lang="es-MX" dirty="0"/>
              <a:t>)=0 y </a:t>
            </a:r>
            <a:r>
              <a:rPr lang="es-MX" i="1" dirty="0" smtClean="0"/>
              <a:t>u</a:t>
            </a:r>
            <a:r>
              <a:rPr lang="es-MX" dirty="0" smtClean="0"/>
              <a:t>(</a:t>
            </a:r>
            <a:r>
              <a:rPr lang="es-MX" i="1" dirty="0" err="1" smtClean="0"/>
              <a:t>L</a:t>
            </a:r>
            <a:r>
              <a:rPr lang="es-MX" dirty="0" err="1" smtClean="0"/>
              <a:t>,</a:t>
            </a:r>
            <a:r>
              <a:rPr lang="es-MX" i="1" dirty="0" err="1" smtClean="0"/>
              <a:t>t</a:t>
            </a:r>
            <a:r>
              <a:rPr lang="es-MX" dirty="0"/>
              <a:t>)=0, podemos considerar la resolución de este problema específico de la ecuación de calor unidimensional</a:t>
            </a:r>
            <a:r>
              <a:rPr lang="es-MX" dirty="0" smtClean="0"/>
              <a:t>. </a:t>
            </a:r>
            <a:r>
              <a:rPr lang="es-MX" dirty="0"/>
              <a:t>Supongamos que la solución tiene la forma </a:t>
            </a:r>
            <a:r>
              <a:rPr lang="es-MX" i="1" dirty="0" smtClean="0"/>
              <a:t>u</a:t>
            </a:r>
            <a:r>
              <a:rPr lang="es-MX" dirty="0" smtClean="0"/>
              <a:t>(</a:t>
            </a:r>
            <a:r>
              <a:rPr lang="es-MX" i="1" dirty="0" err="1" smtClean="0"/>
              <a:t>x</a:t>
            </a:r>
            <a:r>
              <a:rPr lang="es-MX" dirty="0" err="1" smtClean="0"/>
              <a:t>,</a:t>
            </a:r>
            <a:r>
              <a:rPr lang="es-MX" i="1" dirty="0" err="1" smtClean="0"/>
              <a:t>t</a:t>
            </a:r>
            <a:r>
              <a:rPr lang="es-MX" dirty="0"/>
              <a:t>)=</a:t>
            </a:r>
            <a:r>
              <a:rPr lang="es-MX" i="1" dirty="0"/>
              <a:t>X</a:t>
            </a:r>
            <a:r>
              <a:rPr lang="es-MX" dirty="0"/>
              <a:t>(</a:t>
            </a:r>
            <a:r>
              <a:rPr lang="es-MX" i="1" dirty="0"/>
              <a:t>x</a:t>
            </a:r>
            <a:r>
              <a:rPr lang="es-MX" dirty="0"/>
              <a:t>)</a:t>
            </a:r>
            <a:r>
              <a:rPr lang="es-MX" i="1" dirty="0"/>
              <a:t>T</a:t>
            </a:r>
            <a:r>
              <a:rPr lang="es-MX" dirty="0"/>
              <a:t>(</a:t>
            </a:r>
            <a:r>
              <a:rPr lang="es-MX" i="1" dirty="0"/>
              <a:t>t</a:t>
            </a:r>
            <a:r>
              <a:rPr lang="es-MX" dirty="0"/>
              <a:t>). Sustituimos esto en la ecuación y obtenemos</a:t>
            </a:r>
            <a:r>
              <a:rPr lang="es-MX" dirty="0" smtClean="0"/>
              <a:t>:</a:t>
            </a:r>
          </a:p>
          <a:p>
            <a:pPr algn="just"/>
            <a:endParaRPr lang="es-MX" dirty="0"/>
          </a:p>
          <a:p>
            <a:pPr marL="285750" indent="-285750" algn="just">
              <a:buFont typeface="Arial" pitchFamily="34" charset="0"/>
              <a:buChar char="•"/>
            </a:pPr>
            <a:endParaRPr lang="es-CL" dirty="0" smtClean="0"/>
          </a:p>
          <a:p>
            <a:endParaRPr lang="es-CL" dirty="0" smtClean="0"/>
          </a:p>
          <a:p>
            <a:r>
              <a:rPr lang="es-CL" dirty="0" smtClean="0"/>
              <a:t>Dividimos </a:t>
            </a:r>
            <a:r>
              <a:rPr lang="es-CL" dirty="0"/>
              <a:t>ambos lados por </a:t>
            </a:r>
            <a:r>
              <a:rPr lang="es-CL" i="1" dirty="0" err="1" smtClean="0"/>
              <a:t>kXT</a:t>
            </a:r>
            <a:r>
              <a:rPr lang="es-CL" dirty="0" smtClean="0"/>
              <a:t> </a:t>
            </a:r>
            <a:r>
              <a:rPr lang="es-CL" dirty="0"/>
              <a:t>para obtener</a:t>
            </a:r>
            <a:r>
              <a:rPr lang="es-CL" dirty="0" smtClean="0"/>
              <a:t>:</a:t>
            </a:r>
          </a:p>
          <a:p>
            <a:endParaRPr lang="es-CL" dirty="0" smtClean="0"/>
          </a:p>
          <a:p>
            <a:endParaRPr lang="es-CL" dirty="0"/>
          </a:p>
          <a:p>
            <a:pPr algn="just"/>
            <a:endParaRPr lang="es-CL" dirty="0" smtClean="0"/>
          </a:p>
          <a:p>
            <a:pPr algn="just"/>
            <a:r>
              <a:rPr lang="es-MX" dirty="0"/>
              <a:t>Ambos lados de la ecuación son iguales a una constante negativa, que denotamos como </a:t>
            </a:r>
            <a:r>
              <a:rPr lang="es-MX" dirty="0" smtClean="0"/>
              <a:t>−</a:t>
            </a:r>
            <a:r>
              <a:rPr lang="es-MX" i="1" dirty="0" smtClean="0"/>
              <a:t>λ</a:t>
            </a:r>
            <a:r>
              <a:rPr lang="es-MX" dirty="0" smtClean="0"/>
              <a:t>:</a:t>
            </a:r>
            <a:endParaRPr lang="es-CL" dirty="0"/>
          </a:p>
          <a:p>
            <a:pPr algn="just"/>
            <a:r>
              <a:rPr lang="es-CL" dirty="0" smtClean="0"/>
              <a:t> </a:t>
            </a:r>
          </a:p>
          <a:p>
            <a:pPr algn="just"/>
            <a:r>
              <a:rPr lang="es-CL" dirty="0" smtClean="0"/>
              <a:t>                                                        = </a:t>
            </a:r>
            <a:r>
              <a:rPr lang="es-MX" dirty="0" smtClean="0"/>
              <a:t>−</a:t>
            </a:r>
            <a:r>
              <a:rPr lang="es-MX" i="1" dirty="0" smtClean="0"/>
              <a:t>λ</a:t>
            </a:r>
            <a:endParaRPr lang="es-CL" dirty="0"/>
          </a:p>
          <a:p>
            <a:pPr algn="just"/>
            <a:endParaRPr lang="es-CL" dirty="0" smtClean="0"/>
          </a:p>
          <a:p>
            <a:pPr algn="just"/>
            <a:endParaRPr lang="es-CL" dirty="0"/>
          </a:p>
          <a:p>
            <a:pPr algn="just"/>
            <a:endParaRPr lang="es-CL" dirty="0"/>
          </a:p>
        </p:txBody>
      </p:sp>
      <p:pic>
        <p:nvPicPr>
          <p:cNvPr id="4097" name="Picture 1"/>
          <p:cNvPicPr>
            <a:picLocks noChangeAspect="1" noChangeArrowheads="1"/>
          </p:cNvPicPr>
          <p:nvPr/>
        </p:nvPicPr>
        <p:blipFill>
          <a:blip r:embed="rId2">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979737" y="2852937"/>
            <a:ext cx="1846014" cy="4766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3298689" y="3946416"/>
            <a:ext cx="1275859" cy="6080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5 Flecha derecha"/>
          <p:cNvSpPr/>
          <p:nvPr/>
        </p:nvSpPr>
        <p:spPr>
          <a:xfrm>
            <a:off x="5436096" y="5373216"/>
            <a:ext cx="720080" cy="216024"/>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s-CL"/>
          </a:p>
        </p:txBody>
      </p:sp>
      <p:sp>
        <p:nvSpPr>
          <p:cNvPr id="7" name="6 CuadroTexto"/>
          <p:cNvSpPr txBox="1"/>
          <p:nvPr/>
        </p:nvSpPr>
        <p:spPr>
          <a:xfrm>
            <a:off x="6372200" y="5301208"/>
            <a:ext cx="2016224" cy="369332"/>
          </a:xfrm>
          <a:prstGeom prst="rect">
            <a:avLst/>
          </a:prstGeom>
          <a:noFill/>
        </p:spPr>
        <p:txBody>
          <a:bodyPr wrap="square" rtlCol="0">
            <a:spAutoFit/>
          </a:bodyPr>
          <a:lstStyle/>
          <a:p>
            <a:r>
              <a:rPr lang="es-CL" dirty="0" smtClean="0"/>
              <a:t>Cte. de separación</a:t>
            </a:r>
            <a:endParaRPr lang="es-CL" dirty="0"/>
          </a:p>
        </p:txBody>
      </p:sp>
      <p:pic>
        <p:nvPicPr>
          <p:cNvPr id="4100" name="Picture 4"/>
          <p:cNvPicPr>
            <a:picLocks noChangeAspect="1" noChangeArrowheads="1"/>
          </p:cNvPicPr>
          <p:nvPr/>
        </p:nvPicPr>
        <p:blipFill>
          <a:blip r:embed="rId4">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2051720" y="5373216"/>
            <a:ext cx="1309645" cy="6480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691853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1337</TotalTime>
  <Words>585</Words>
  <Application>Microsoft Office PowerPoint</Application>
  <PresentationFormat>Presentación en pantalla (4:3)</PresentationFormat>
  <Paragraphs>43</Paragraphs>
  <Slides>5</Slides>
  <Notes>0</Notes>
  <HiddenSlides>0</HiddenSlides>
  <MMClips>0</MMClips>
  <ScaleCrop>false</ScaleCrop>
  <HeadingPairs>
    <vt:vector size="4" baseType="variant">
      <vt:variant>
        <vt:lpstr>Tema</vt:lpstr>
      </vt:variant>
      <vt:variant>
        <vt:i4>1</vt:i4>
      </vt:variant>
      <vt:variant>
        <vt:lpstr>Títulos de diapositiva</vt:lpstr>
      </vt:variant>
      <vt:variant>
        <vt:i4>5</vt:i4>
      </vt:variant>
    </vt:vector>
  </HeadingPairs>
  <TitlesOfParts>
    <vt:vector size="6" baseType="lpstr">
      <vt:lpstr>Tema de Office</vt:lpstr>
      <vt:lpstr>Serie de Fourier: An introduction to Partial Differential Equations (Cambridge)</vt:lpstr>
      <vt:lpstr>La metodología de separación de variables</vt:lpstr>
      <vt:lpstr>Ecuación del calor: condición de contorno homogénea</vt:lpstr>
      <vt:lpstr>Ecuación del calor: condición de contorno homogénea</vt:lpstr>
      <vt:lpstr>Ecuación del calor: condición de contorno homogénea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Natalia</dc:creator>
  <cp:lastModifiedBy>Natalia</cp:lastModifiedBy>
  <cp:revision>21</cp:revision>
  <dcterms:created xsi:type="dcterms:W3CDTF">2023-11-20T20:31:34Z</dcterms:created>
  <dcterms:modified xsi:type="dcterms:W3CDTF">2023-11-21T18:49:11Z</dcterms:modified>
</cp:coreProperties>
</file>